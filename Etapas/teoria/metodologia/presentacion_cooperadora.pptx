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UNIVERSIDAD TECNOLÓGICA NACIONAL (UTN)  ·  EXTENSIÓN ÁULICA NECOCHEA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Montserrat"/>
              </a:defRPr>
            </a:pPr>
            <a:r>
              <a:t>Metodología de Sistemas 2  |  Trabajo Final Integrador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Portal Web de la Asociación Cooperadora del</a:t>
            </a:r>
            <a:br/>
            <a:r>
              <a:t>Hospital Municipal "Dr. Emilio Ferreyra"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14800"/>
            <a:ext cx="10362895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5943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EQUIPO DE TRABAJO Y ROLES: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Aramis Prieto  -  </a:t>
            </a:r>
            <a:r>
              <a:rPr sz="1000" b="0">
                <a:solidFill>
                  <a:srgbClr val="475569"/>
                </a:solidFill>
                <a:latin typeface="Inter"/>
              </a:rPr>
              <a:t>Scrum Master &amp; Lead Backend Developer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Kevin Nielsen  -  </a:t>
            </a:r>
            <a:r>
              <a:rPr sz="1000" b="0">
                <a:solidFill>
                  <a:srgbClr val="475569"/>
                </a:solidFill>
                <a:latin typeface="Inter"/>
              </a:rPr>
              <a:t>Security &amp; Backend Developer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Thiago Masson  -  </a:t>
            </a:r>
            <a:r>
              <a:rPr sz="1000" b="0">
                <a:solidFill>
                  <a:srgbClr val="475569"/>
                </a:solidFill>
                <a:latin typeface="Inter"/>
              </a:rPr>
              <a:t>Full Stack Developer &amp; Branding Specialist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Santiago Ialungo  -  </a:t>
            </a:r>
            <a:r>
              <a:rPr sz="1000" b="0">
                <a:solidFill>
                  <a:srgbClr val="475569"/>
                </a:solidFill>
                <a:latin typeface="Inter"/>
              </a:rPr>
              <a:t>UI/UX &amp; Lead Frontend 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389120"/>
            <a:ext cx="347472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DOCENTE:</a:t>
            </a:r>
          </a:p>
          <a:p>
            <a:pPr algn="r">
              <a:spcAft>
                <a:spcPts val="140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Daniel Moreno</a:t>
            </a:r>
          </a:p>
          <a:p>
            <a:pPr algn="r">
              <a:spcAft>
                <a:spcPts val="400"/>
              </a:spcAft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FECHA DE ENTREGA:</a:t>
            </a:r>
          </a:p>
          <a:p>
            <a:pPr algn="r">
              <a:defRPr sz="1100">
                <a:solidFill>
                  <a:srgbClr val="475569"/>
                </a:solidFill>
                <a:latin typeface="Inter"/>
              </a:defRPr>
            </a:pPr>
            <a:r>
              <a:t>Junio 2026  ·  Necochea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REQUERIMIENTOS GENERALES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Descripción y Alcance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01. Gestión de Socios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Registro de asociados con DNI único, domicilio, teléfono y alta automatizada al Libro de Registro digital.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37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20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02. Módulo Transaccional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Historial de pagos de cuotas sociales y control de membresía con pasarela de pago recurrente (Mercado Pago).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737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920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03. Recaudación Transparente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Visualización de campañas de recaudación activas para insumos/obras, con barras de progreso en tiempo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04. Auditoría de Donaciones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Checkout interactivo para registrar transferencias manuales (carga de comprobantes) o donación en línea directa.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4023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4206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05. Panel Administrativo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Gestión de operadores para aprobar transferencias, modificar campañas, y auditar el padrón social.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4023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4206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06. Módulo Informativo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Portal de novedades y de obras concretadas para difundir hitos institucionales de la cooperadora.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PLANIFICACIÓN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Roles y Responsabilidades Técnicas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Aramis Prieto</a:t>
            </a:r>
          </a:p>
          <a:p>
            <a:pPr>
              <a:spcAft>
                <a:spcPts val="1200"/>
              </a:spcAft>
              <a:defRPr sz="850" b="1">
                <a:solidFill>
                  <a:srgbClr val="059669"/>
                </a:solidFill>
                <a:latin typeface="Inter"/>
              </a:defRPr>
            </a:pPr>
            <a:r>
              <a:t>Scrum Master &amp; Lead Backend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Facilitación de metodologías ágiles.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Modelado híbrido de datos (SQL+NoSQL).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Transaccionalidad concurrente mediante bloqueos de fila relacionales.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Desarrollo de suite de pruebas de integración con Vitest.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Kevin Nielsen</a:t>
            </a:r>
          </a:p>
          <a:p>
            <a:pPr>
              <a:spcAft>
                <a:spcPts val="1200"/>
              </a:spcAft>
              <a:defRPr sz="850" b="1">
                <a:solidFill>
                  <a:srgbClr val="DC2626"/>
                </a:solidFill>
                <a:latin typeface="Inter"/>
              </a:defRPr>
            </a:pPr>
            <a:r>
              <a:t>Security &amp; Backend Developer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Autenticación segura basada en tokens JWT.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Rate limiting por IP contra ataques DDoS.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Validaciones estructuradas con expresiones regulares.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Servicio SMTP automatizado para notificaciones por correo electrónico.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Santiago Ialungo</a:t>
            </a:r>
          </a:p>
          <a:p>
            <a:pPr>
              <a:spcAft>
                <a:spcPts val="1200"/>
              </a:spcAft>
              <a:defRPr sz="850" b="1">
                <a:solidFill>
                  <a:srgbClr val="059669"/>
                </a:solidFill>
                <a:latin typeface="Inter"/>
              </a:defRPr>
            </a:pPr>
            <a:r>
              <a:t>UI/UX &amp; Lead Frontend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Diseño de interfaz clínica (paleta médica, ECG).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Desarrollo responsivo con Tailwind CSS.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Paneles públicos y panel administrativo de control.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Lenis scroll e implementaciones de UI Scroll-Spy.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Thiago Masson</a:t>
            </a:r>
          </a:p>
          <a:p>
            <a:pPr>
              <a:spcAft>
                <a:spcPts val="1200"/>
              </a:spcAft>
              <a:defRPr sz="850" b="1">
                <a:solidFill>
                  <a:srgbClr val="DC2626"/>
                </a:solidFill>
                <a:latin typeface="Inter"/>
              </a:defRPr>
            </a:pPr>
            <a:r>
              <a:t>Full Stack &amp; Branding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Gestión de monorrepo con pnpm workspaces.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Integración de logotipos institucionales.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Desarrollo del módulo de noticias documentales.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Sanitización preventiva contra ataques XSS con DOMPurify.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PERSISTENCIA HÍBRIDA Y CONCURRENCIA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Arquitectura de Datos y Estrategia de Persistencia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1148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CLIENTE (Frontend SPA)</a:t>
            </a:r>
          </a:p>
          <a:p>
            <a:pPr>
              <a:spcAft>
                <a:spcPts val="400"/>
              </a:spcAft>
              <a:defRPr sz="950" b="1">
                <a:solidFill>
                  <a:srgbClr val="059669"/>
                </a:solidFill>
                <a:latin typeface="Inter"/>
              </a:defRPr>
            </a:pPr>
            <a:r>
              <a:t>React.js  ·  Vite  ·  Tailwind CSS</a:t>
            </a:r>
          </a:p>
          <a:p>
            <a:pPr>
              <a:defRPr sz="850">
                <a:solidFill>
                  <a:srgbClr val="475569"/>
                </a:solidFill>
                <a:latin typeface="Inter"/>
              </a:defRPr>
            </a:pPr>
            <a:r>
              <a:t>SPA responsiva cargada dinámicamente. Desacoplada del servidor para escalabilidad e independencia.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475569"/>
                </a:solidFill>
                <a:latin typeface="Inter"/>
              </a:defRPr>
            </a:pPr>
            <a:r>
              <a:t>⇅  HTTPS / REST API (JWT)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41148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API SERVER (Backend)</a:t>
            </a:r>
          </a:p>
          <a:p>
            <a:pPr>
              <a:spcAft>
                <a:spcPts val="4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Node.js  ·  Express  ·  pnpm workspaces</a:t>
            </a:r>
          </a:p>
          <a:p>
            <a:pPr>
              <a:defRPr sz="850">
                <a:solidFill>
                  <a:srgbClr val="475569"/>
                </a:solidFill>
                <a:latin typeface="Inter"/>
              </a:defRPr>
            </a:pPr>
            <a:r>
              <a:t>Capa lógica central. Realiza el Data Mashup, gestiona el estado de caché en memoria y controla la concurrencia.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1645920"/>
            <a:ext cx="2926080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1783080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SQL (Transaccional ACID)</a:t>
            </a:r>
          </a:p>
          <a:p>
            <a:pPr>
              <a:spcAft>
                <a:spcPts val="600"/>
              </a:spcAft>
              <a:defRPr sz="750" b="1">
                <a:solidFill>
                  <a:srgbClr val="059669"/>
                </a:solidFill>
                <a:latin typeface="Inter"/>
              </a:defRPr>
            </a:pPr>
            <a:r>
              <a:t>CONSISTENCIA FINANCIERA</a:t>
            </a:r>
          </a:p>
          <a:p>
            <a:pPr>
              <a:spcAft>
                <a:spcPts val="300"/>
              </a:spcAft>
              <a:defRPr sz="850">
                <a:solidFill>
                  <a:srgbClr val="475569"/>
                </a:solidFill>
                <a:latin typeface="Inter"/>
              </a:defRPr>
            </a:pPr>
            <a:r>
              <a:t>• usuarios: Claves cifradas (bcryptjs)</a:t>
            </a:r>
          </a:p>
          <a:p>
            <a:pPr>
              <a:spcAft>
                <a:spcPts val="300"/>
              </a:spcAft>
              <a:defRPr sz="850">
                <a:solidFill>
                  <a:srgbClr val="475569"/>
                </a:solidFill>
                <a:latin typeface="Inter"/>
              </a:defRPr>
            </a:pPr>
            <a:r>
              <a:t>• perfiles_socios: Libro social (DNI único)</a:t>
            </a:r>
          </a:p>
          <a:p>
            <a:pPr>
              <a:spcAft>
                <a:spcPts val="300"/>
              </a:spcAft>
              <a:defRPr sz="850">
                <a:solidFill>
                  <a:srgbClr val="475569"/>
                </a:solidFill>
                <a:latin typeface="Inter"/>
              </a:defRPr>
            </a:pPr>
            <a:r>
              <a:t>• campanas_eco: Balances y metas</a:t>
            </a:r>
          </a:p>
          <a:p>
            <a:pPr>
              <a:spcBef>
                <a:spcPts val="600"/>
              </a:spcBef>
              <a:defRPr sz="800" i="1">
                <a:solidFill>
                  <a:srgbClr val="475569"/>
                </a:solidFill>
                <a:latin typeface="Inter"/>
              </a:defRPr>
            </a:pPr>
            <a:r>
              <a:t>Justificación: Datos que exigen atomicidad, consistencia, aislamiento y durabilidad relacional.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1645920"/>
            <a:ext cx="2926080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1783080"/>
            <a:ext cx="2651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ontserrat"/>
              </a:defRPr>
            </a:pPr>
            <a:r>
              <a:t>NoSQL (Documental)</a:t>
            </a:r>
          </a:p>
          <a:p>
            <a:pPr>
              <a:spcAft>
                <a:spcPts val="600"/>
              </a:spcAft>
              <a:defRPr sz="750" b="1">
                <a:solidFill>
                  <a:srgbClr val="DC2626"/>
                </a:solidFill>
                <a:latin typeface="Inter"/>
              </a:defRPr>
            </a:pPr>
            <a:r>
              <a:t>FLEXIBILIDAD Y MULTIMEDIA</a:t>
            </a:r>
          </a:p>
          <a:p>
            <a:pPr>
              <a:spcAft>
                <a:spcPts val="300"/>
              </a:spcAft>
              <a:defRPr sz="850">
                <a:solidFill>
                  <a:srgbClr val="475569"/>
                </a:solidFill>
                <a:latin typeface="Inter"/>
              </a:defRPr>
            </a:pPr>
            <a:r>
              <a:t>• noticias_actualidad: Novedades multimedia</a:t>
            </a:r>
          </a:p>
          <a:p>
            <a:pPr>
              <a:spcAft>
                <a:spcPts val="300"/>
              </a:spcAft>
              <a:defRPr sz="850">
                <a:solidFill>
                  <a:srgbClr val="475569"/>
                </a:solidFill>
                <a:latin typeface="Inter"/>
              </a:defRPr>
            </a:pPr>
            <a:r>
              <a:t>• campanas_detalle: Historias de obras</a:t>
            </a:r>
          </a:p>
          <a:p>
            <a:pPr>
              <a:spcAft>
                <a:spcPts val="300"/>
              </a:spcAft>
              <a:defRPr sz="850">
                <a:solidFill>
                  <a:srgbClr val="475569"/>
                </a:solidFill>
                <a:latin typeface="Inter"/>
              </a:defRPr>
            </a:pPr>
            <a:r>
              <a:t>  Enlazado por campana_id_ref</a:t>
            </a:r>
          </a:p>
          <a:p>
            <a:pPr>
              <a:spcBef>
                <a:spcPts val="600"/>
              </a:spcBef>
              <a:defRPr sz="800" i="1">
                <a:solidFill>
                  <a:srgbClr val="475569"/>
                </a:solidFill>
                <a:latin typeface="Inter"/>
              </a:defRPr>
            </a:pPr>
            <a:r>
              <a:t>Justificación: Formatos dinámicos sin esquemas rígidos, ideal para galerías y logs de noticias.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931920"/>
            <a:ext cx="6126480" cy="2011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4069080"/>
            <a:ext cx="576072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TEMAS CLAVE DE EXPOSICIÓN (DEFENSA TFI):</a:t>
            </a:r>
          </a:p>
          <a:p>
            <a:pPr>
              <a:spcAft>
                <a:spcPts val="600"/>
              </a:spcAft>
              <a:defRPr sz="900" b="1">
                <a:solidFill>
                  <a:srgbClr val="DC2626"/>
                </a:solidFill>
                <a:latin typeface="Inter"/>
              </a:defRPr>
            </a:pPr>
            <a:r>
              <a:t>⚡  1. Data Mashup Sincrónico (Optimización de Latencia): </a:t>
            </a:r>
            <a:r>
              <a:rPr b="0" sz="850">
                <a:solidFill>
                  <a:srgbClr val="475569"/>
                </a:solidFill>
              </a:rPr>
              <a:t>Para acelerar la red, el backend consulta Sequelize y Mongoose en paralelo usando Promise.all() y los unifica en un JSON plano antes de enviarlo al cliente.</a:t>
            </a:r>
          </a:p>
          <a:p>
            <a:pPr>
              <a:spcAft>
                <a:spcPts val="200"/>
              </a:spcAft>
              <a:defRPr sz="900" b="1">
                <a:solidFill>
                  <a:srgbClr val="DC2626"/>
                </a:solidFill>
                <a:latin typeface="Inter"/>
              </a:defRPr>
            </a:pPr>
            <a:r>
              <a:t>⚡  2. Control de Concurrencia Relacional (Integridad Financiera): </a:t>
            </a:r>
            <a:r>
              <a:rPr b="0" sz="850">
                <a:solidFill>
                  <a:srgbClr val="475569"/>
                </a:solidFill>
              </a:rPr>
              <a:t>Al donar concurrentemente, se abre una transacción SQL que adquiere un bloqueo exclusivo de fila (SELECT ... FOR UPDATE), encolando otros hilos y evitando cálculos inconsistentes del balance.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RENDIMIENTO Y HARDENING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Optimización y Seguridad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Montserrat"/>
              </a:defRPr>
            </a:pPr>
            <a:r>
              <a:t>✓  FRONTEND, UX &amp; SEO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120640" cy="3840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✦  Code Splitting &amp; Lazy Load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React.lazy() y Suspense en App.jsx para cargar perezosamente paneles pesados de administración.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✦  Velocidad Perceptual (Skeletons)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Uso de CampaignSkeleton y NewsSkeleton para eliminar parpadeo visual molesto.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✦  Accesibilidad y Semántica SEO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Etiquetas semánticas HTML5, etiquetas Open Graph completas y precarga DNS de tipografías.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459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Montserrat"/>
              </a:defRPr>
            </a:pPr>
            <a:r>
              <a:t>🛡  BACKEND, SEGURIDAD &amp; CACHÉ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5120640" cy="3840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🔒  Caché Invalidador Reactivo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NodeCache en lecturas públicas (5m TTL), con limpieza automática mediante flushCache() en altas o modificaciones.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🔒  Rate Limiting por IP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Configuración express-rate-limit con trust proxy activo para prevenir ataques sin bloquear IPs de balanceadores.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🔒  Helmet &amp; Sanitización NoSQL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Middleware helmet para cabeceras HTTP robustas y mongo-sanitize para saneo de queries maliciosas.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REFACTORIZACIÓN Y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Propuestas de Refactorización mediante Patrones de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28416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96265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Singleton Pattern</a:t>
            </a:r>
          </a:p>
          <a:p>
            <a:pPr>
              <a:spcAft>
                <a:spcPts val="1200"/>
              </a:spcAft>
              <a:defRPr sz="950" b="1">
                <a:solidFill>
                  <a:srgbClr val="DC2626"/>
                </a:solidFill>
                <a:latin typeface="Montserrat"/>
              </a:defRPr>
            </a:pPr>
            <a:r>
              <a:t>CONEXIÓN DE BD ÚNICA</a:t>
            </a:r>
          </a:p>
          <a:p>
            <a:pPr>
              <a:lnSpc>
                <a:spcPct val="125000"/>
              </a:lnSpc>
              <a:defRPr sz="900">
                <a:solidFill>
                  <a:srgbClr val="475569"/>
                </a:solidFill>
                <a:latin typeface="Inter"/>
              </a:defRPr>
            </a:pPr>
            <a:r>
              <a:t>Módulo: config/db.js</a:t>
            </a:r>
            <a:br/>
            <a:r>
              <a:t>Asegura que toda la aplicación de Express comparta una única instancia de conexión para los motores SQL y NoSQL.</a:t>
            </a:r>
            <a:br/>
            <a:br/>
            <a:r>
              <a:t>Ventaja: Ahorro de memoria, previene la sobrecarga del pool de conexiones al evitar múltiples instancias redundantes.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37360"/>
            <a:ext cx="3328416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2011680"/>
            <a:ext cx="296265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Factory Method Pattern</a:t>
            </a:r>
          </a:p>
          <a:p>
            <a:pPr>
              <a:spcAft>
                <a:spcPts val="1200"/>
              </a:spcAft>
              <a:defRPr sz="950" b="1">
                <a:solidFill>
                  <a:srgbClr val="DC2626"/>
                </a:solidFill>
                <a:latin typeface="Montserrat"/>
              </a:defRPr>
            </a:pPr>
            <a:r>
              <a:t>CREACIÓN DE USUARIOS</a:t>
            </a:r>
          </a:p>
          <a:p>
            <a:pPr>
              <a:lnSpc>
                <a:spcPct val="125000"/>
              </a:lnSpc>
              <a:defRPr sz="900">
                <a:solidFill>
                  <a:srgbClr val="475569"/>
                </a:solidFill>
                <a:latin typeface="Inter"/>
              </a:defRPr>
            </a:pPr>
            <a:r>
              <a:t>Módulo: services/userService.js</a:t>
            </a:r>
            <a:br/>
            <a:r>
              <a:t>Delegación de la creación de instancias del modelo según rol (Socio o Admin), precargando permisos específicos.</a:t>
            </a:r>
            <a:br/>
            <a:br/>
            <a:r>
              <a:t>Ventaja: Cumple con el principio Open/Closed al poder añadir nuevos roles fácilmente sin alterar controladores.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737360"/>
            <a:ext cx="3328416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011680"/>
            <a:ext cx="296265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State Pattern + Async Worker</a:t>
            </a:r>
          </a:p>
          <a:p>
            <a:pPr>
              <a:spcAft>
                <a:spcPts val="1200"/>
              </a:spcAft>
              <a:defRPr sz="950" b="1">
                <a:solidFill>
                  <a:srgbClr val="DC2626"/>
                </a:solidFill>
                <a:latin typeface="Montserrat"/>
              </a:defRPr>
            </a:pPr>
            <a:r>
              <a:t>CONCILIACIÓN AUTOMÁTICA</a:t>
            </a:r>
          </a:p>
          <a:p>
            <a:pPr>
              <a:lnSpc>
                <a:spcPct val="125000"/>
              </a:lnSpc>
              <a:defRPr sz="900">
                <a:solidFill>
                  <a:srgbClr val="475569"/>
                </a:solidFill>
                <a:latin typeface="Inter"/>
              </a:defRPr>
            </a:pPr>
            <a:r>
              <a:t>Módulo: donacionController.js</a:t>
            </a:r>
            <a:br/>
            <a:r>
              <a:t>Flujo de transferencias manuales dividido en clases de estado (EstadoPendiente, EstadoAprobado, EstadoRechazado) con un Cron Job / Worker de conciliación automática en segundo plano.</a:t>
            </a:r>
            <a:br/>
            <a:br/>
            <a:r>
              <a:t>Ventaja: Resuelve el cuello de botella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